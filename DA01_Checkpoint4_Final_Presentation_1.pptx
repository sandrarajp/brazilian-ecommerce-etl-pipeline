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0A93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EE9B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5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EUROPE FOR APPLIED SCIENCES — DUBAI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Late Deliveries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Brazilian E-Commerce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— A Comparative Machine Learning Study with Class Imbalance Handling Using the Olist Dataset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0A939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FINAL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4434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Silva   |   Sandra Raj Pattuvakkaran   |   Sudarsh Mekkampurath Sajeev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Prof. Dr. Nor Azizah Hitam   |   July 4,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From Proposal to Final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173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490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— title, problem, objectives, dataset, expected outcome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1343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4D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26791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Understanding — description, features, data issues identified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20954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32826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08760" y="35753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Initial Analysis — cleaning steps, EDA, early findings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10565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4178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44714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 &amp; ML — modelling, results, findings, recommendations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Proposal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·  Problem Statement  ·  Objectives  ·  Dataset  ·  Expected Outcome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· PROJECT PROPOSAL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Late Deliveries in Brazilian E-Commerce: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D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Machine Learning Study with Class Imbalance Handling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of orders (≈8,000 customers) on the Olist platform are delivered late — damaging customer satisfaction and driving negative reviews.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(92% on-time vs. 8% late): a naive model predicting all orders on-time achieves 92% accuracy while detecting zero late deliveries.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predictive system flags at-risk orders before they become late — logistics teams react instead of acting proactively.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· PROJECT PROPOSAL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23444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distribution, delivery-time histograms, correlation heatmap, late rate by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70992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order_hour, order_day_of_week, same_state, product_volume, payment_ratio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185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18541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training data only — never on the test 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609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6609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5-Model Comparison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66090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KNN, XGBoost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363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13639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on 10-fold CV F1 scores (p &lt; 0.05)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87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Public Dataset (Kaggle)  ·  ~100,000 orders, 9 relational CSV files, 2016–2018  ·  Enriched via companion Data Engineering pipeline (PostgreSQL, 3NF schema)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Understanding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Preparation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  ·  Main Features  ·  Data Issues Identified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· DATASET UNDERSTANDING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61872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9222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cleaning)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96312" y="118872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261872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D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87752" y="179222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35424" y="118872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261872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864" y="179222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orders_enriched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74536" y="118872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65976" y="126187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2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65976" y="179222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(target = 1)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 / COLUMNS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is_late (1 = delivered after estimate, 0 = on 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delivery_days, days_late, order_estimated_delivery_date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product_weight_g, product_length_cm, product_height_cm, product_width_cm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/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freight_value, price, item_count, payment_installments, payment_type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seller_state, customer_state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· DATASET UNDERSTANDING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Issues Identified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delivery dates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61848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2,965 orders had no delivered_customer_date (undelivered / cancelled) — excluded from the modelling table since is_late cannot be computed.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3258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product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8032" y="161848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missing category names, 2 missing dimension rows — filled with 'unknown' / median to satisfy FK constraints and avoid skew.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542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review 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834640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87,656 missing titles, 58,247 missing messages — most customers simply skip written feedback, not a data-quality defect.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663440" y="2450592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42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review IDs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834640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in Olist's own review submission system reused IDs — resolved by keeping the first occurrence.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7581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gaps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4050792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referenced category names absent from the translation table (e.g. pc_gamer) — added programmatically before load.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663440" y="3666744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37581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4050792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~8% of orders are late — flagged early as the central analytical challenge carried into every later checkpoint.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 ·  Resolving Checkpoint 2 Issues  ·  Early EDA Findings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 · DATA CLEANING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Steps &amp; How Checkpoint 2 Issues Were Solved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2 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delivery 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to status = 'delivered' with a non-null delivery timestamp only (99,441 → 96,476 rows).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product dimensions/category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Median-imputed dimensions; 'unknown' category label; missing categories added to translation table.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review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drop_duplicates(keep='first') applied before aggregating review scores per order.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datetime formats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timestamp columns parsed with pd.to_datetime(errors='coerce').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features unusable by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customer_state, seller_state, payment_type one-hot / label encoded.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(91.9% / 8.1%)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 for modelling stage: SMOTE on training folds only, F1/ROC-AUC as primary metrics.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 · INITIAL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EDA &amp; Early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61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91.9% / 8.1%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vs. 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42032" y="11887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1261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D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 days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33472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118872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8304" y="1261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8304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state 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(Alagoas)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11696" y="1188720"/>
            <a:ext cx="1975104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26187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2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03136" y="17373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state 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(Rondônia)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confirmed as the central ML challenge — a naive always-on-time model scores 91.9% accuracy while catching zero late orders.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Late-delivery rate varies sharply by customer state — northern/northeastern states (AL, MA, PI) run 2–3× the national average, pointing to distance-from-hub as a likely driver.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shows same_state and freight_value as the strongest usable (pre-delivery) correlates of lateness — both fairly weak (|r| &lt; 0.06), an early signal that order-level features alone may not fully explain lateness.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correlates with lateness, but is only known after delivery — confirmed as unusable for prediction and excluded from the feature set.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Analysis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  ·  Models  ·  Training &amp; Testing  ·  Results  ·  Interpretation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FINAL MODELLING SETUP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Dataset, Features &amp; Target Variable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618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orders_enriched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96312" y="118872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2618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D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87752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predictive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35424" y="118872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2618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864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74536" y="118872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65976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77,180 / 19,295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65976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rows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(stratified 80/20)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  —  1 if delivered after the estimated date, 0 if on time. Confirmed 8.1% positive rate preserved identically in both the train and test splits via stratification.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(KNOWN AT ORDER TIME — NO LEAKAGE)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Order/Payment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40280" y="345643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item_count, price, freight_value, payment_installments, payment_type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7856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40280" y="3785616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product_weight_g, product_length_cm/height_cm/width_cm, product_volume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40280" y="4114800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order_hour, order_day_of_week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4439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40280" y="4443984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customer_state, seller_state, same_state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design: delivery_days, days_late, review_score — all only known after delivery, so including them would leak the answer into the prediction.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MODELLING APPROACH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 Used &amp; Why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72768" cy="324612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572768" cy="5029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88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 with probability outputs; a reference point every other model must beat.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30552" y="1188720"/>
            <a:ext cx="1572768" cy="324612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30552" y="1188720"/>
            <a:ext cx="1572768" cy="502920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10" name="Text 8"/>
          <p:cNvSpPr/>
          <p:nvPr/>
        </p:nvSpPr>
        <p:spPr>
          <a:xfrm>
            <a:off x="2203704" y="1188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21992" y="1810512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Visualisable rules (max_depth=6) for a human-readable view of what drives a late-order flag.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03904" y="1188720"/>
            <a:ext cx="1572768" cy="324612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03904" y="1188720"/>
            <a:ext cx="1572768" cy="502920"/>
          </a:xfrm>
          <a:prstGeom prst="rect">
            <a:avLst/>
          </a:prstGeom>
          <a:solidFill>
            <a:srgbClr val="EE9B00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1188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95344" y="1810512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for a stronger, less overfit baseline plus feature-importance ranking.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77256" y="1188720"/>
            <a:ext cx="1572768" cy="324612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77256" y="1188720"/>
            <a:ext cx="1572768" cy="502920"/>
          </a:xfrm>
          <a:prstGeom prst="rect">
            <a:avLst/>
          </a:prstGeom>
          <a:solidFill>
            <a:srgbClr val="6D8B74"/>
          </a:solidFill>
          <a:ln/>
        </p:spPr>
      </p:sp>
      <p:sp>
        <p:nvSpPr>
          <p:cNvPr id="18" name="Text 16"/>
          <p:cNvSpPr/>
          <p:nvPr/>
        </p:nvSpPr>
        <p:spPr>
          <a:xfrm>
            <a:off x="5550408" y="1188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68696" y="1810512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approach as a non-parametric contrast to the other model families (K=11, elbow-selected).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0608" y="1188720"/>
            <a:ext cx="1572768" cy="324612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0608" y="1188720"/>
            <a:ext cx="1572768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188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42048" y="1810512"/>
            <a:ext cx="13898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expected top performer on tabular data; used scale_pos_weight for imbalance.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rationale: the five models span the interpretability → performance spectrum, letting the paired t-test (Checkpoint 4 results) show whether the extra complexity of ensembles/boosting actually earns a statistically significant improvement over the simple baseline.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MODELLING APPROACH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Testing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10896" cy="31089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07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120700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train/test split — 8.1% late rate preserved identically in both sets.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10896" cy="31089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16459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the training data only, then applied to test data (fit-on-train, transform-both — prevents leakage).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10896" cy="31089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(train only)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208483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inside every cross-validation fold and once on the full training set before the final fit. The test set is never touched by SMOTE, so evaluation reflects the real 92:8 imbalance.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310896" cy="31089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237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252374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stratified cross-validation, F1-score as the primary metric, run through an imblearn Pipeline so SMOTE only ever sees training folds.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296265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(20 iterations, 5-fold, F1-scoring) tunes XGBoost's max_depth, learning_rate, n_estimators, subsample, and colsample_bytree; the tuned model is refit and re-evaluated.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310896" cy="310896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threshold-tune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340156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fit evaluated once on the untouched test set; a precision-recall sweep finds the F1-maximising decision threshold for XGBoost.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MODEL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Test Set Performance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78992"/>
                <a:gridCol w="1078992"/>
                <a:gridCol w="914400"/>
                <a:gridCol w="960120"/>
                <a:gridCol w="960120"/>
                <a:gridCol w="149961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 (10-fold)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 ± 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0.153 ± 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0.178 ± 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 ± 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 ± 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F1-Score: 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(0.175)   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Best ROC-AUC: 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(0.611)   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Best Recall:  </a:t>
            </a:r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(89.3%)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3657600"/>
            <a:ext cx="8412480" cy="960120"/>
          </a:xfrm>
          <a:prstGeom prst="roundRect">
            <a:avLst>
              <a:gd name="adj" fmla="val 5714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37673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(10-fold CV F1, all model pairs): every pairwise difference is statistically significant at p &lt; 0.05. CV F1 (0.15–0.21) is consistent with the test-set F1 (0.16–0.18) shown above — a small, expected gap rather than a large unexplained one, confirming the leakage-free SMOTE-in-CV setup is behaving as intended.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MODEL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 &amp; Confusion Matrix (XGBoost)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618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decision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96312" y="118872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2618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D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87752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at tuned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(vs 0.162)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35424" y="118872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2618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864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 tuned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74536" y="118872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65976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2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87.9%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65976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tuned threshold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AT TUNED THRESHOLD  (test set, n = 19,295)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4846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On-Time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On-Time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= 12,496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= 5,234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= 841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= 724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0" y="2651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0" y="294436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catches under half of true late orders (recall 46%) and flags almost 9 false alarms for every real catch (precision 12%). Useful only as an early-warning signal for human review — not for automated action.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INTERPRETATION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Results Mean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ability exists, precision does not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0.56–0.61 across all five models shows genuine, if modest, discriminatory power — the models can rank orders by risk better than random. But at any single decision threshold, precision stays under 13%, meaning most 'late' flags are false alarms.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76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vs. precision is a real trade-off here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trades almost all precision for recall (89% recall, 9% precision) — it flags most true late orders but drowns them in false positives. Logistic Regression sits closer to balanced (58% recall, 10% precision, best F1).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 problem was correctly handled, not solved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leakage-free CV + F1/AUC scoring did their job — CV and test F1 now agree (≈0.16–0.21) as shown on the results slide. The low absolute scores reflect a hard problem, not a broken pipeline.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Order-level features have a performance ceiling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model (XGBoost, AUC 0.611) is well short of a strong classifier. This points to missing information — not a fixable modelling error — as the main limiter (see Limitations).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SUPERVISOR FEEDBACK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Checkpoint 3 Feedback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627632"/>
          </a:xfrm>
          <a:prstGeom prst="roundRect">
            <a:avLst>
              <a:gd name="adj" fmla="val 3371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Is a 0.16–0.17 F1-score useful in a real logistics system, or does it create too many false alarms?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0078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default threshold, XGBoost's 89% recall comes with only 9% precision — roughly 10 of every 11 flags are false alarms; the false-alarm rate stays at 88% even at the tuned threshold. Used as an automated trigger, this would indeed create far too much noise.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640080" y="223113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2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it as a binary automated trigger. ROC-AUC of 0.611 shows real ranking ability, so the model is repositioned as a risk-based triage tool — review the top-N% highest-risk orders each day (capacity-bounded), not every flagged order. High recall becomes an asset for that use case rather than a liability.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8229600" cy="1627632"/>
          </a:xfrm>
          <a:prstGeom prst="roundRect">
            <a:avLst>
              <a:gd name="adj" fmla="val 3371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99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Does LabelEncoder create a false numeric relationship between states? What encoding is better?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3814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Checkpoint 3 encoded customer_state/seller_state with LabelEncoder, assigning arbitrary integers (AC=0, AL=1, AM=2…) that imply an ordinal relationship and numeric “distance” between states that doesn't exist — most damaging for Logistic Regression and KNN, which use those integers directly in coefficients/distances.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40080" y="39684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2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one-hot encoding for customer_state, seller_state, and payment_type in the final pipeline (16 → 63 columns) — each state is now an independent binary column with no implied order. Target/frequency encoding is noted as a future option to cut dimensionality without reintroducing false ordinality.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4 · SUPERVISOR FEEDBACK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Checkpoint 3 Feedback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What additional data would make this model more reliable for real-world late-delivery prediction?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4.6 traced the model's performance ceiling (ROC-AUC ≈ 0.61) to missing operational information rather than a fixable modelling error. The following external data sources would plausibly close that gap: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2677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tracking / scan events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852928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 milestones (hub arrival/departure, out-for-delivery) so risk can update as an order progresses, not just at purchase.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130552" y="214884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22677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dispatch latency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852928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order placement and hand-off to carrier — not currently isolated from total delivery time.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803904" y="214884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13632" y="22677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shipment distance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13632" y="2852928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geodesic/road distance between seller and customer, replacing the coarse same_state flag.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477256" y="214884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86984" y="22677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calendar effects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86984" y="2852928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and public holidays along the delivery route — flagged repeatedly in the literature reviewed.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150608" y="214884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0336" y="22677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/ carrier track record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60336" y="2852928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historical on-time rate per seller and per carrier, as a proxy for operational risk.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needs map directly onto the Future Improvements in Section 5.4 — the most concrete, evidence-based path to a materially more reliable model.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SYNTHESIS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Findings, Recommendations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·  Recommendations  ·  Limitations  ·  Future Work  ·  Conclusion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955280" y="-731520"/>
            <a:ext cx="2011680" cy="2011680"/>
          </a:xfrm>
          <a:prstGeom prst="ellipse">
            <a:avLst/>
          </a:prstGeom>
          <a:solidFill>
            <a:srgbClr val="0A9396">
              <a:alpha val="20000"/>
            </a:srgb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FINDINGS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Full Analysis Tells 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the strongest reliable driver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late rates range from 2.9% (RO) to 23.9% (AL) against an 8.1% national average — by far the clearest, most actionable pattern in the data.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98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makes accuracy meaningless here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17556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plateau at 0.16–0.18 test F1 despite SMOTE — a stable, expected result once accuracy is dropped in favour of F1/ROC-AUC.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990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the best risk-ranking model, not a precise classifier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4472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(0.611) and recall (89%) make it the strongest early-warning candidate; its low precision (9%) means it cannot drive automated action on its own.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990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Order-level features carry only weak individual signal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34472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same_state and freight_value are the strongest usable correlates of lateness, and both are weak (|r| &lt; 0.06) — the dataset is missing the operational data that most likely explains most lateness.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SYNTHESIS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tuned XGBoost model as an early-warning flag routed to human review — not as an automated trigger, given its low precision.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logistics investment by state — geography is the most actionable, reliable signal identified in this project.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seller-level historical late-rate feature as a proxy for operational risk not otherwise captured.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the dataset with carrier tracking events, weather, and warehouse dispatch-time data before expecting materially better precision.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0916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ceiling of ~0.56–0.61 suggests this feature set has a low performance ceiling regardless of model choice.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fixes training-set balance, not the underlying information gap — precision stays low at any usable recall.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KNN elbow search selected K on SMOTE-resampled data rather than isolating it to training folds only — a mild leakage risk flagged for future iterations.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feature-name/column-index mismatch in the feature-importance and decision-tree plots was identified and corrected during Checkpoint 4 QA; rankings should be treated as indicative pending a final re-run.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SYNTHESIS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 &amp;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84248" cy="1325880"/>
          </a:xfrm>
          <a:prstGeom prst="roundRect">
            <a:avLst>
              <a:gd name="adj" fmla="val 413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7276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learning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566928" y="202996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focal loss / class-weighted objectives alongside or instead of SMOTE.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532888" y="1463040"/>
            <a:ext cx="1984248" cy="1325880"/>
          </a:xfrm>
          <a:prstGeom prst="roundRect">
            <a:avLst>
              <a:gd name="adj" fmla="val 413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42616" y="157276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history features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642616" y="202996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seller-level historical on-time rate as a leakage-safe proxy for operational risk.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608576" y="1463040"/>
            <a:ext cx="1984248" cy="1325880"/>
          </a:xfrm>
          <a:prstGeom prst="roundRect">
            <a:avLst>
              <a:gd name="adj" fmla="val 413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57276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enrichment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4718304" y="202996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weather, public holidays, and carrier tracking events.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684264" y="1463040"/>
            <a:ext cx="1984248" cy="1325880"/>
          </a:xfrm>
          <a:prstGeom prst="roundRect">
            <a:avLst>
              <a:gd name="adj" fmla="val 4138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93992" y="157276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encoding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793992" y="202996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target/frequency encoding for state features to cut the 63-column one-hot footprint and sharpen feature-importance interpretation.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493008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 complete, leakage-free pipeline — from raw Olist tables through EDA, feature engineering, five compared classifiers, and statistical validation — to predict late deliveries. The strongest, most actionable finding is geographic: late rates triple across Brazilian states, a clear lever for operational fixes. The models themselves confirm genuine but modest predictive signal (ROC-AUC ≈ 0.61) rather than a strong classifier, correctly reflecting that order-level data alone cannot fully explain delivery lateness — richer, external logistics data is the natural next step.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0A93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EE9B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953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24912" y="288036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16352" y="2953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D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16352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64024" y="288036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55464" y="2953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9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55464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Late-delivery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03136" y="2880360"/>
            <a:ext cx="1883664" cy="914400"/>
          </a:xfrm>
          <a:prstGeom prst="roundRect">
            <a:avLst>
              <a:gd name="adj" fmla="val 7000"/>
            </a:avLst>
          </a:prstGeom>
          <a:solidFill>
            <a:srgbClr val="F4F8F7"/>
          </a:solidFill>
          <a:ln/>
          <a:effectLst>
            <a:outerShdw sx="100000" sy="100000" kx="0" ky="0" algn="bl" rotWithShape="0" blurRad="1290320000" dist="483870000" dir="162000000000">
              <a:srgbClr val="000000">
                <a:alpha val="12000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94576" y="29535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D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94576" y="34290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Silva   |   Sandra Raj Pattuvakkaran   |   Sudarsh Mekkampurath Sajeev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6451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DA01 — Data Analytics  |  University of Europe for Applied Sciences — Dubai  |  Checkpoint 4  |  July 4,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DA01 Checkpoint 4 - Predicting Late Deliveries in Brazilian E-Commerce</dc:title>
  <dc:subject>PptxGenJS Presentation</dc:subject>
  <dc:creator>Renato Silva, Sandra Raj Pattuvakkaran, Sudarsh Mekkampurath Sajeev</dc:creator>
  <cp:lastModifiedBy>Renato Silva, Sandra Raj Pattuvakkaran, Sudarsh Mekkampurath Sajeev</cp:lastModifiedBy>
  <cp:revision>1</cp:revision>
  <dcterms:created xsi:type="dcterms:W3CDTF">2026-07-03T18:24:54Z</dcterms:created>
  <dcterms:modified xsi:type="dcterms:W3CDTF">2026-07-03T18:24:54Z</dcterms:modified>
</cp:coreProperties>
</file>