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84048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CHECKPOINT  —  DATA ENGINEERING MODULE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ETL Pipeline for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Brazilian E-Commerce Retail Analytics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ingestion, quality assurance, and business intelligence using Apache Airflow, PostgreSQL, and Power BI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6634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4572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Built · Tested · Deployed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 Silva, Sandra Raj Pattuvakkaran, Sudarsh Mekkampurath Sajeev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Prof. Dr. Nor Azizah Hitam  |  Module: Data Engineering  |  12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596896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596896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Proposal to Production-Ready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checkpoint delivers on every objective set out in the original proposal — a fully automated, validated, and visualized data pipeline built on the Olist Brazilian E-Commerce dataset (~100,000 real orders, 2016–2018, 9 relational tables).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880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017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657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&amp; Model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41148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CSVs extracted via Kaggle API, normalized into a 3NF PostgreSQL schema with full PK/FK integrity.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61688" y="26060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36008" y="2880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30175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3657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&amp; Validate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636008" y="41148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handling, deduplication, type casting; FK integrity checks executed on dev and unseen test data.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74736" y="26060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49056" y="2880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30175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49056" y="3657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 &amp; Visualize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449056" y="41148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DAG runs the pipeline daily; Power BI dashboard delivers KPIs across 3 analytical tabs.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48640" y="598932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All four roadmap milestones (DB setup, ETL scripting, ACID load &amp; constraint testing, Airflow orchestration &amp; reporting) complete.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Olist E-Commerce Data Pipeline  |  Final Checkpoint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913632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91363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Architecture: 7 Stages, One Flow</a:t>
            </a:r>
            <a:endParaRPr lang="en-US" sz="3000" dirty="0"/>
          </a:p>
        </p:txBody>
      </p:sp>
      <p:pic>
        <p:nvPicPr>
          <p:cNvPr id="5" name="Image 0" descr="/home/claude/proj/images/Screenshot_2026-06-10_1144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11064240" cy="30083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0292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Source — Kaggle (9 CSVs, ~100K orders)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Ingest — Python/Colab via Kaggle API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Transform — Pandas: null fills, dedup, type casting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Load — SQLAlchemy → PostgreSQL (olist_ecommerce)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09360" y="50292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Validate — SQL/Python ACID &amp; FK integrity checks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Orchestrate — Airflow DAG, @daily schedule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Visualize — Power BI KPI dashboard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Olist E-Commerce Data Pipeline  |  Final Checkpoint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090672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0906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Issues Identified &amp; Resolved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of the 9 raw tables surfaced 4 categories of quality issues. Each was resolved with a documented, defensible decision before loading into PostgreSQL.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338328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  <a:gridCol w="2103120"/>
                <a:gridCol w="3566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2,965 null delivery 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 valid undelivered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 missing category names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'unknown'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must exist for FK 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rows missing dimensions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avoids skew from 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87,656 missing titles / 58,247 missing messages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placeholder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customers skip written feedback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review 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first, drop 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in Olist's review submission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category_translation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categories (e.g. pc_gamer)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programmatically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for FK integrity with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98932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0807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zero unresolved nulls in transaction-critical columns prior to load.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Olist E-Commerce Data Pipeline  |  Final Checkpoint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9260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Normalized Schema (3NF): Entity-Relationship Diagram</a:t>
            </a:r>
            <a:endParaRPr lang="en-US" sz="3000" dirty="0"/>
          </a:p>
        </p:txBody>
      </p:sp>
      <p:pic>
        <p:nvPicPr>
          <p:cNvPr id="5" name="Image 0" descr="/home/claude/proj/images/ERP_Brazil_Ecommerce_Olyst_drawio__1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8229600" cy="35021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783080"/>
            <a:ext cx="2651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 in 3NF: reference tables (products, sellers, geolocation, category_translation) load before transaction tables.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 uses a composite PK (order_id + order_item_id) — one order can hold multiple items.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uses a composite PK (order_id + payment_sequential) — orders can split across payment methods.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has no PK — one zip prefix maps to multiple lat/lng points.</a:t>
            </a:r>
            <a:endParaRPr lang="en-US" sz="1250" dirty="0"/>
          </a:p>
        </p:txBody>
      </p:sp>
      <p:pic>
        <p:nvPicPr>
          <p:cNvPr id="7" name="Image 1" descr="/home/claude/proj/images/9_Olist_Tables_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5349240"/>
            <a:ext cx="2377440" cy="1051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63240" y="5349240"/>
            <a:ext cx="8549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tables created and populated in PostgreSQL 18 (pgAdmin).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Olist E-Commerce Data Pipeline  |  Final Checkpoint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078224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407822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75/25 Dev–Test Split, Anchored on Orders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followed a production-style validation methodology: built and tuned on a 75% development set, then proven against a 25% test set the pipeline had never seen.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949440" cy="3840480"/>
        </p:xfrm>
        <a:graphic>
          <a:graphicData uri="http://schemas.openxmlformats.org/drawingml/2006/table">
            <a:tbl>
              <a:tblPr/>
              <a:tblGrid>
                <a:gridCol w="2377440"/>
                <a:gridCol w="1527048"/>
                <a:gridCol w="1527048"/>
                <a:gridCol w="151790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74,581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24,860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74,581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24,860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84,439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28,143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112,650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77,931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103,886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73,804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24,785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~98,589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1,000,163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1,000,163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1,000,163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category_translation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237744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0" y="25146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74,581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955280" y="33375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loaded into the development PostgreSQL database with zero constraint violations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680960" y="425196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80960" y="43891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4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7955280" y="5212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violations on the unseen 24,860-order test set across all integrity checks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 &amp; payments exceed order count — by design: one order can contain multiple products and span multiple payment methods.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Olist E-Commerce Data Pipeline  |  Final Checkpoint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 Validation &amp; Referential Integrity — Proven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integrity was validated in Python before any data reached PostgreSQL, then re-confirmed by re-running all checks against the held-out test set.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64922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4203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423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 with invalid order_id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937760" y="2423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46520" y="2542032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254203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906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971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invalid customer_id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46520" y="3090672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/>
          <p:nvPr/>
        </p:nvSpPr>
        <p:spPr>
          <a:xfrm>
            <a:off x="6446520" y="30906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3931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 with invalid product_id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937760" y="3520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46520" y="3639312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21" name="Text 16"/>
          <p:cNvSpPr/>
          <p:nvPr/>
        </p:nvSpPr>
        <p:spPr>
          <a:xfrm>
            <a:off x="6446520" y="36393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8795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4069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 with invalid seller_id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37760" y="4069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446520" y="4187952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26" name="Text 20"/>
          <p:cNvSpPr/>
          <p:nvPr/>
        </p:nvSpPr>
        <p:spPr>
          <a:xfrm>
            <a:off x="6446520" y="41879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73659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34440" y="4617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orders row count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937760" y="4617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24,860 (expected ~24,860)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6446520" y="4736592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31" name="Text 24"/>
          <p:cNvSpPr/>
          <p:nvPr/>
        </p:nvSpPr>
        <p:spPr>
          <a:xfrm>
            <a:off x="6446520" y="47365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pic>
        <p:nvPicPr>
          <p:cNvPr id="32" name="Image 5" descr="/home/claude/proj/images/Screenshot_2026-06-10_223517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315200" y="2331720"/>
            <a:ext cx="4297680" cy="241401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315200" y="4800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 query against the validated PostgreSQL 18 database.</a:t>
            </a:r>
            <a:endParaRPr lang="en-US" sz="1100" dirty="0"/>
          </a:p>
        </p:txBody>
      </p:sp>
      <p:pic>
        <p:nvPicPr>
          <p:cNvPr id="34" name="Image 6" descr="/home/claude/proj/images/Total_Sucess_Airflow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48640" y="5532120"/>
            <a:ext cx="7680960" cy="8686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366760" y="55321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Airflow tasks (extract, clean, validate, notify) completed successfully on the most recent run.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Olist E-Commerce Data Pipeline  |  Final Checkpoint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596896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596896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Airflow: Scheduled, Monitored, Self-Healing</a:t>
            </a:r>
            <a:endParaRPr lang="en-US" sz="3000" dirty="0"/>
          </a:p>
        </p:txBody>
      </p:sp>
      <p:pic>
        <p:nvPicPr>
          <p:cNvPr id="5" name="Image 0" descr="/home/claude/proj/images/UI_DAG_olis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94944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029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run history for olist_pipeline — extract → clean → validate → notify, all green on the latest run.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726680" y="1783080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PythonOperator tasks run in strict sequence: extract → clean → validate → notify.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@daily — pipeline runs automatically with no manual trigger required.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automatic retry per task before a run is marked failed, giving resilience against transient errors.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+ Gantt/graph views give a transparent record of data lineage and run duration.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726680" y="521208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5212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olist_pipeline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Tasks: 4  •  All PythonOperators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Olist E-Commerce Data Pipeline  |  Final Checkpoint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078224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407822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Environment Problems &amp; Fixes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83080"/>
            <a:ext cx="3246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 errors on pip / Kaggle API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0" y="1783080"/>
            <a:ext cx="3383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SSL proxy intercepting HTTPS connections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03920" y="178308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--trusted-host flags to bypass certificate verification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65176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346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651760"/>
            <a:ext cx="3246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incompatible with Airflow 2.9.2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0" y="2651760"/>
            <a:ext cx="3383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Python too new for Airflow's requirements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834640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03920" y="265176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dedicated Python 3.11 virtual environment inside WSL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48640" y="352044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0332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3520440"/>
            <a:ext cx="3246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could not reach Windows PostgreSQL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4572000" y="3520440"/>
            <a:ext cx="3383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in WSL points to Linux, not the Windows host</a:t>
            </a:r>
            <a:endParaRPr lang="en-US" sz="11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3703320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503920" y="352044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Windows host IP via /etc/resolv.conf; whitelisted WSL subnet in pg_hba.conf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548640" y="438912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72000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234440" y="4389120"/>
            <a:ext cx="3246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violations on product load</a:t>
            </a:r>
            <a:endParaRPr lang="en-US" sz="1250" dirty="0"/>
          </a:p>
        </p:txBody>
      </p:sp>
      <p:sp>
        <p:nvSpPr>
          <p:cNvPr id="26" name="Text 17"/>
          <p:cNvSpPr/>
          <p:nvPr/>
        </p:nvSpPr>
        <p:spPr>
          <a:xfrm>
            <a:off x="4572000" y="4389120"/>
            <a:ext cx="3383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referenced category names absent from category_translation</a:t>
            </a:r>
            <a:endParaRPr lang="en-US" sz="11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4572000"/>
            <a:ext cx="292608" cy="29260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503920" y="438912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Programmatically detected and added all missing categories before load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548640" y="525780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5440680"/>
            <a:ext cx="365760" cy="36576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234440" y="5257800"/>
            <a:ext cx="3246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review IDs → PK violations</a:t>
            </a:r>
            <a:endParaRPr lang="en-US" sz="1250" dirty="0"/>
          </a:p>
        </p:txBody>
      </p:sp>
      <p:sp>
        <p:nvSpPr>
          <p:cNvPr id="32" name="Text 21"/>
          <p:cNvSpPr/>
          <p:nvPr/>
        </p:nvSpPr>
        <p:spPr>
          <a:xfrm>
            <a:off x="4572000" y="5257800"/>
            <a:ext cx="3383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in Olist's review submission system reuses IDs</a:t>
            </a:r>
            <a:endParaRPr lang="en-US" sz="11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440" y="5440680"/>
            <a:ext cx="292608" cy="29260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503920" y="525780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duplicates, keeping first occurrence</a:t>
            </a:r>
            <a:endParaRPr lang="en-US" sz="1150" dirty="0"/>
          </a:p>
        </p:txBody>
      </p:sp>
      <p:sp>
        <p:nvSpPr>
          <p:cNvPr id="35" name="Text 23"/>
          <p:cNvSpPr/>
          <p:nvPr/>
        </p:nvSpPr>
        <p:spPr>
          <a:xfrm>
            <a:off x="1234440" y="1417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457200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37" name="Text 25"/>
          <p:cNvSpPr/>
          <p:nvPr/>
        </p:nvSpPr>
        <p:spPr>
          <a:xfrm>
            <a:off x="850392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38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Olist E-Commerce Data Pipeline  |  Final Checkpoint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73936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73936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TAB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Overview &amp; Order Trends</a:t>
            </a:r>
            <a:endParaRPr lang="en-US" sz="3000" dirty="0"/>
          </a:p>
        </p:txBody>
      </p:sp>
      <p:pic>
        <p:nvPicPr>
          <p:cNvPr id="5" name="Image 0" descr="/home/claude/proj/images/Screenshot_2026-06-10_22351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8595360" cy="4736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326880" y="173736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9464040" y="1810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R$10.15M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464040" y="2267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326880" y="27889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10" name="Text 7"/>
          <p:cNvSpPr/>
          <p:nvPr/>
        </p:nvSpPr>
        <p:spPr>
          <a:xfrm>
            <a:off x="9464040" y="2862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74,581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46404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326880" y="384048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13" name="Text 10"/>
          <p:cNvSpPr/>
          <p:nvPr/>
        </p:nvSpPr>
        <p:spPr>
          <a:xfrm>
            <a:off x="9464040" y="39136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464040" y="4370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Review Score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326880" y="48920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16" name="Text 13"/>
          <p:cNvSpPr/>
          <p:nvPr/>
        </p:nvSpPr>
        <p:spPr>
          <a:xfrm>
            <a:off x="9464040" y="4965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3,095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464040" y="5422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Sellers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326880" y="5897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(SP) dominates order volume; orders grew steadily from early 2017, peaking late 2017–mid 2018 before the dataset's tail-off in late 2018. Delivered orders account for 97% of all order statuses.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Olist E-Commerce Data Pipeline  |  Final Checkpoint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73936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73936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TAB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Delivery Performance</a:t>
            </a:r>
            <a:endParaRPr lang="en-US" sz="3000" dirty="0"/>
          </a:p>
        </p:txBody>
      </p:sp>
      <p:pic>
        <p:nvPicPr>
          <p:cNvPr id="5" name="Image 0" descr="/home/claude/proj/images/Screenshot_2026-06-10_22353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8595360" cy="4809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326880" y="173736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50976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203911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49840" y="184708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68.7K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509760" y="2514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Deliveries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9326880" y="310896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509760" y="3291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2" y="341071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149840" y="321868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5,881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509760" y="3886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326880" y="448056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509760" y="4663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47823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149840" y="459028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days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9509760" y="5257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Delivery Time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9326880" y="6035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states (AM, RR, AP, AL, PA) show the longest median delivery times (20-27 days), while São Paulo and the South have the fastest. Late deliveries spike around late 2017 / early 2018.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Olist E-Commerce Data Pipeline  |  Final Checkpoint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73936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73936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TAB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Commerce &amp; Customer Reviews</a:t>
            </a:r>
            <a:endParaRPr lang="en-US" sz="3000" dirty="0"/>
          </a:p>
        </p:txBody>
      </p:sp>
      <p:pic>
        <p:nvPicPr>
          <p:cNvPr id="5" name="Image 0" descr="/home/claude/proj/images/Screenshot_2026-06-10_22355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859536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1783080"/>
            <a:ext cx="2331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and Watches/Gifts lead category revenue, each near R$0.9-1.0M.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 among the top 10 sellers, with the leading seller approaching R$0.2M.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reviews are the most common rating overall; 1-star is the third most frequent — pointing to a polarized minority of dissatisfied customers worth investigating.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review score across the platform is 5.0 / 5.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61264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3836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Score: 5.00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Olist E-Commerce Data Pipeline  |  Final Checkpoint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584448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358444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INSIGHTS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Findings from the Dev Dataset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8483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476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concentration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2560320"/>
            <a:ext cx="3209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accounts for roughly 40% of all orders, consistent with its role as Brazil's largest economic hub.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17830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1984248"/>
            <a:ext cx="457200" cy="457200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08483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48072" y="19476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satisfaction overall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26280" y="2560320"/>
            <a:ext cx="3209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 is 5/5; 5-star reviews dominate, though 1-star is the 3rd most common — a polarized tail worth investigating.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01584" y="17830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02752" y="1984248"/>
            <a:ext cx="457200" cy="457200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208483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24544" y="19476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Items exceed orders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02752" y="2560320"/>
            <a:ext cx="3209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84,439 order items and 77,931 payments vs 74,581 orders — driven by multi-item orders and split payments.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8862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9808" y="4087368"/>
            <a:ext cx="457200" cy="457200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18795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40507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 mostly present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49808" y="4663440"/>
            <a:ext cx="3209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of 74,581 dev orders (under 1%) have no corresponding review record.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25112" y="38862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26280" y="4087368"/>
            <a:ext cx="457200" cy="457200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4187952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48072" y="40507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is regionally uneven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26280" y="4663440"/>
            <a:ext cx="3209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delivery time ranges from ~7 days (SP) to ~27 days (AM) — a clear logistics bottleneck in the North.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01584" y="388620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02752" y="4087368"/>
            <a:ext cx="457200" cy="457200"/>
          </a:xfrm>
          <a:prstGeom prst="ellipse">
            <a:avLst/>
          </a:prstGeom>
          <a:solidFill>
            <a:srgbClr val="E8F4F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4187952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24544" y="40507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integrity violations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02752" y="4663440"/>
            <a:ext cx="3209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foreign key checks passed with 0 violations on both the dev set and the unseen 24,860-order test set.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Olist E-Commerce Data Pipeline  |  Final Checkpoint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9260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Production Hardening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7627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0391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Loads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651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UPSERT logic with PostgreSQL ON CONFLICT DO NOTHING so the pipeline supports incremental batch loads instead of full reloads.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0574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17627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0391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Object Storage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92240" y="2651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raw data storage to AWS S3 (or equivalent) so the pipeline is decoupled from local file paths and portable across environments.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976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41655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2793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DQ in Airflow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22960" y="4892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dedicated data-quality task between clean and validate, automating the integrity checks currently run manually in the notebook.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17920" y="4023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976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416552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2793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 TLS Certificates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492240" y="4892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install proper SSL certificates rather than bypassing verification with --trusted-host flags.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Olist E-Commerce Data Pipeline  |  Final Checkpoint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Complete.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9 messy CSVs to a validated, automated, daily-orchestrated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 — with proof at every step.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loaded, 3NF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4297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66160" y="4937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checks passed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4297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@daily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309360" y="4937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schedule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52560" y="4297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9052560" y="4937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tabs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| Data Engineering Pipeline Team — Renato Silva, Sandra Raj Pattuvakkaran, Sudarsh Mekkampurath Sajeev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Brazilian E-Commerce — Final Checkpoint</dc:title>
  <dc:subject>PptxGenJS Presentation</dc:subject>
  <dc:creator>Renato Silva, Sandra Raj Pattuvakkaran, Sudarsh Mekkampurath Sajeev</dc:creator>
  <cp:lastModifiedBy>Renato Silva, Sandra Raj Pattuvakkaran, Sudarsh Mekkampurath Sajeev</cp:lastModifiedBy>
  <cp:revision>1</cp:revision>
  <dcterms:created xsi:type="dcterms:W3CDTF">2026-06-12T05:33:11Z</dcterms:created>
  <dcterms:modified xsi:type="dcterms:W3CDTF">2026-06-12T05:33:11Z</dcterms:modified>
</cp:coreProperties>
</file>